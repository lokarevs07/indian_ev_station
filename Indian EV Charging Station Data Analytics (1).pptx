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Space Grotesk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SpaceGrotesk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8.png"/><Relationship Id="rId10" Type="http://schemas.openxmlformats.org/officeDocument/2006/relationships/image" Target="../media/image13.png"/><Relationship Id="rId9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10" Type="http://schemas.openxmlformats.org/officeDocument/2006/relationships/image" Target="../media/image34.png"/><Relationship Id="rId9" Type="http://schemas.openxmlformats.org/officeDocument/2006/relationships/image" Target="../media/image28.png"/><Relationship Id="rId5" Type="http://schemas.openxmlformats.org/officeDocument/2006/relationships/image" Target="../media/image2.png"/><Relationship Id="rId6" Type="http://schemas.openxmlformats.org/officeDocument/2006/relationships/image" Target="../media/image36.png"/><Relationship Id="rId7" Type="http://schemas.openxmlformats.org/officeDocument/2006/relationships/image" Target="../media/image11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10" Type="http://schemas.openxmlformats.org/officeDocument/2006/relationships/image" Target="../media/image29.png"/><Relationship Id="rId9" Type="http://schemas.openxmlformats.org/officeDocument/2006/relationships/image" Target="../media/image19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452937"/>
            <a:ext cx="10668000" cy="676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1728787"/>
            <a:ext cx="3781425" cy="295275"/>
          </a:xfrm>
          <a:prstGeom prst="roundRect">
            <a:avLst>
              <a:gd fmla="val 50000" name="adj"/>
            </a:avLst>
          </a:prstGeom>
          <a:solidFill>
            <a:srgbClr val="0F2F37"/>
          </a:solidFill>
          <a:ln cap="flat" cmpd="sng" w="9525">
            <a:solidFill>
              <a:srgbClr val="0F48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62000" y="4452937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2252662"/>
            <a:ext cx="9701212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Indian EV Charging Station Analytics Platform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538537"/>
            <a:ext cx="790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End-to-end data processing, Random Forest power prediction model, geospatial analytics, and interactive Streamlit web application.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14400" y="1785937"/>
            <a:ext cx="3571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DATA ANALYTICS &amp; MACHINE LEARNING PIPELINE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729162"/>
            <a:ext cx="3500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ENVIRONMENT STACK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4929187"/>
            <a:ext cx="350043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Google Colab • Streamlit • GitHub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867150" y="4729162"/>
            <a:ext cx="27979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CORE ALGORITHM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867150" y="4929187"/>
            <a:ext cx="2797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Random Forest Regression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410325" y="4729162"/>
            <a:ext cx="2464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GEOGRAPHIC SCOPE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410325" y="4929187"/>
            <a:ext cx="2464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Pan-India Infrastructure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609600" y="2557462"/>
            <a:ext cx="3505200" cy="2667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343400" y="2428875"/>
            <a:ext cx="3505200" cy="2924175"/>
          </a:xfrm>
          <a:prstGeom prst="roundRect">
            <a:avLst>
              <a:gd fmla="val 52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077200" y="2557462"/>
            <a:ext cx="3505200" cy="26670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8717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2743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28717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7750" y="299561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81550" y="28670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1062" y="2995612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PROJECT OVERVIEW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Executive Summary &amp; Core Objectives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23925" y="3519487"/>
            <a:ext cx="377547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Infrastructure Analytics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23925" y="3881437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Evaluates station distribution across Indian states, cities, operators, connector types, and kW power output levels.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57725" y="3390900"/>
            <a:ext cx="377547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Power Modeling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657725" y="3752850"/>
            <a:ext cx="2971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Trains Random Forest Regressor to forecast charging power capacity based on station attributes and hardware parameters.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391525" y="3519487"/>
            <a:ext cx="377547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Interactive Web App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91525" y="3881437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Deploys Streamlit cloud application featuring dynamic KPI filtering, geospatial maps, and on-demand ML predictions.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609600" y="2487215"/>
            <a:ext cx="5372100" cy="1289446"/>
          </a:xfrm>
          <a:prstGeom prst="roundRect">
            <a:avLst>
              <a:gd fmla="val 118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210300" y="2487215"/>
            <a:ext cx="5372100" cy="1289446"/>
          </a:xfrm>
          <a:prstGeom prst="roundRect">
            <a:avLst>
              <a:gd fmla="val 118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09600" y="4005262"/>
            <a:ext cx="5372100" cy="1289446"/>
          </a:xfrm>
          <a:prstGeom prst="roundRect">
            <a:avLst>
              <a:gd fmla="val 118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210300" y="4005262"/>
            <a:ext cx="5372100" cy="1289446"/>
          </a:xfrm>
          <a:prstGeom prst="roundRect">
            <a:avLst>
              <a:gd fmla="val 118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865239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6525" y="2865239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" y="438328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438328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2512" y="301763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4637" y="3017639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453568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10350" y="453568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Technology Ecosystem &amp; Libraries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609725" y="2763440"/>
            <a:ext cx="537567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Processing Engine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609725" y="3020615"/>
            <a:ext cx="4191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Python 3.x, Pandas, NumPy, Google Colab notebook workflow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7210425" y="2763440"/>
            <a:ext cx="49815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Exploratory Visualization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7210425" y="3020615"/>
            <a:ext cx="4191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Plotly express, Matplotlib, Seaborn geospatial mapping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609725" y="4281487"/>
            <a:ext cx="537567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Machine Learning Framework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609725" y="4538662"/>
            <a:ext cx="4191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Scikit-learn, Random Forest Regressor, Joblib serialization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7210425" y="4281487"/>
            <a:ext cx="49815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Cloud &amp; Deployment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210425" y="4538662"/>
            <a:ext cx="41910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Streamlit Community Cloud, GitHub repository CI/CD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/>
          <p:nvPr/>
        </p:nvSpPr>
        <p:spPr>
          <a:xfrm>
            <a:off x="6903690" y="2433637"/>
            <a:ext cx="4678709" cy="2914650"/>
          </a:xfrm>
          <a:prstGeom prst="roundRect">
            <a:avLst>
              <a:gd fmla="val 5228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09600" y="2209800"/>
            <a:ext cx="5989290" cy="1019175"/>
          </a:xfrm>
          <a:prstGeom prst="roundRect">
            <a:avLst>
              <a:gd fmla="val 11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09600" y="3381375"/>
            <a:ext cx="5989290" cy="1019175"/>
          </a:xfrm>
          <a:prstGeom prst="roundRect">
            <a:avLst>
              <a:gd fmla="val 11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09600" y="4552950"/>
            <a:ext cx="5989290" cy="1019175"/>
          </a:xfrm>
          <a:prstGeom prst="roundRect">
            <a:avLst>
              <a:gd fmla="val 1121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7246590" y="4500562"/>
            <a:ext cx="3992909" cy="504825"/>
          </a:xfrm>
          <a:prstGeom prst="roundRect">
            <a:avLst>
              <a:gd fmla="val 15094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DATA PIPELINE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Preprocessing &amp; Quality Audit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246590" y="2776537"/>
            <a:ext cx="4945409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OUTPUT ARTIFACT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246590" y="3052762"/>
            <a:ext cx="494540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Quality Audit Report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7246590" y="3500437"/>
            <a:ext cx="408815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Compares raw and cleansed dataset conditions, verifying null counts, unique entries, and valid ranges.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47725" y="2605087"/>
            <a:ext cx="495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47725" y="3776662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847725" y="4948237"/>
            <a:ext cx="53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7446615" y="4662487"/>
            <a:ext cx="4491074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&gt; EV_Data_Quality_Report.csv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1209675" y="2409825"/>
            <a:ext cx="676080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Standardization &amp; Sanitization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1209675" y="2628900"/>
            <a:ext cx="52463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Cleaned column headers, removed trailing spaces, converted numeric datatypes.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247775" y="3581400"/>
            <a:ext cx="67107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Deduplication &amp; Imputation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1247775" y="3800475"/>
            <a:ext cx="52082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Purged duplicate station records and imputed missing attributes systematically.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247775" y="4752975"/>
            <a:ext cx="671079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Spatial &amp; Power Range Validation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247775" y="4972050"/>
            <a:ext cx="52082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Validated latitude/longitude boundary ranges and filtered outlier power ratings (kW).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/>
          <p:nvPr/>
        </p:nvSpPr>
        <p:spPr>
          <a:xfrm>
            <a:off x="609600" y="2214562"/>
            <a:ext cx="5372100" cy="1562100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6210300" y="2214562"/>
            <a:ext cx="5372100" cy="1562100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09600" y="4005262"/>
            <a:ext cx="5372100" cy="1562100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210300" y="4005262"/>
            <a:ext cx="5372100" cy="1562100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5" name="Google Shape;1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490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6525" y="2490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" y="42814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42814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3937" y="2595562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0350" y="2595562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6787" y="438626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91300" y="4386262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DATA SPECIFICATION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Schema &amp; Key Variables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885825" y="2986087"/>
            <a:ext cx="49149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Station Name, City, State, Latitude, and Longitude parameters enabling GIS location mapping.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6486525" y="2986087"/>
            <a:ext cx="49149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Connector Types (CCS2, Type-2, CHAdeMO) and rated charging capacity in kilowatts (kW).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885825" y="4776787"/>
            <a:ext cx="49149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Public and private Charge Point Operator (CPO) brands managing charging infrastructure nodes.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486525" y="4776787"/>
            <a:ext cx="49149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Public access, commercial fleet, residential hubs, and highway transit corridor classification.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1381125" y="2557462"/>
            <a:ext cx="237529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Spatial Coordinates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981825" y="2557462"/>
            <a:ext cx="297537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 Specifications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1381125" y="4348162"/>
            <a:ext cx="228778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Network Operators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981825" y="4348162"/>
            <a:ext cx="215026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Usage Categories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>
            <a:off x="609600" y="2424112"/>
            <a:ext cx="5391150" cy="1371600"/>
          </a:xfrm>
          <a:prstGeom prst="roundRect">
            <a:avLst>
              <a:gd fmla="val 8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6191250" y="2424112"/>
            <a:ext cx="5391150" cy="1371600"/>
          </a:xfrm>
          <a:prstGeom prst="roundRect">
            <a:avLst>
              <a:gd fmla="val 8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09600" y="3986212"/>
            <a:ext cx="5391150" cy="1371600"/>
          </a:xfrm>
          <a:prstGeom prst="roundRect">
            <a:avLst>
              <a:gd fmla="val 8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191250" y="3986212"/>
            <a:ext cx="5391150" cy="1371600"/>
          </a:xfrm>
          <a:prstGeom prst="roundRect">
            <a:avLst>
              <a:gd fmla="val 833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609600" y="2424112"/>
            <a:ext cx="57150" cy="1371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191250" y="2424112"/>
            <a:ext cx="57150" cy="137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09600" y="3986212"/>
            <a:ext cx="5715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191250" y="3986212"/>
            <a:ext cx="5715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INFRASTRUCTURE ANALYSIS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Charging Power Categories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933450" y="3014662"/>
            <a:ext cx="4895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 slow chargers designed for long-duration overnight residential and workplace parking environments.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6515100" y="3014662"/>
            <a:ext cx="4895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Commercial AC &amp; DC fast chargers standard across urban commercial parking and shopping centers.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933450" y="4576762"/>
            <a:ext cx="4895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DC rapid chargers deployed primarily along high-traffic intercity highway transit corridors.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515100" y="4576762"/>
            <a:ext cx="4895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Ultra-fast DC charging hubs optimized for heavy commercial EV fleets and transit buses.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933450" y="2690812"/>
            <a:ext cx="134016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Low Power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5114925" y="2719387"/>
            <a:ext cx="904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&lt; 22 kW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6515100" y="2690812"/>
            <a:ext cx="177522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Medium Power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10487025" y="2719387"/>
            <a:ext cx="11144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22 – 50 kW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933450" y="4252912"/>
            <a:ext cx="138017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 Power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4829175" y="4281487"/>
            <a:ext cx="1190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50 – 150 kW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515100" y="4252912"/>
            <a:ext cx="195024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Very High Power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0620375" y="4281487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&gt; 150 kW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/>
          <p:nvPr/>
        </p:nvSpPr>
        <p:spPr>
          <a:xfrm>
            <a:off x="609600" y="3021508"/>
            <a:ext cx="2714625" cy="1738907"/>
          </a:xfrm>
          <a:prstGeom prst="roundRect">
            <a:avLst>
              <a:gd fmla="val 65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3752850" y="2541686"/>
            <a:ext cx="1881187" cy="2698551"/>
          </a:xfrm>
          <a:prstGeom prst="roundRect">
            <a:avLst>
              <a:gd fmla="val 60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6062662" y="2661642"/>
            <a:ext cx="1881187" cy="2458640"/>
          </a:xfrm>
          <a:prstGeom prst="roundRect">
            <a:avLst>
              <a:gd fmla="val 60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8372475" y="3021508"/>
            <a:ext cx="3209925" cy="1738907"/>
          </a:xfrm>
          <a:prstGeom prst="roundRect">
            <a:avLst>
              <a:gd fmla="val 657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6625" y="3795712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37" y="3795712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0" y="3795712"/>
            <a:ext cx="1238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PREDICTIVE ANALYTICS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Machine Learning Workflow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838200" y="3250108"/>
            <a:ext cx="2352675" cy="1281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STEP 01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3981450" y="2770286"/>
            <a:ext cx="1519237" cy="2241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STEP 02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6291262" y="2890242"/>
            <a:ext cx="1519237" cy="200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STEP 03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8601075" y="3250108"/>
            <a:ext cx="2847975" cy="1281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STEP 04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847725" y="3526333"/>
            <a:ext cx="293786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Preprocessing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47725" y="3802558"/>
            <a:ext cx="23336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Loading cleansed dataset (`EV_stations_cleaned.csv`) and mapping variables.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3990975" y="3046511"/>
            <a:ext cx="18439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Encoding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3990975" y="3322736"/>
            <a:ext cx="1500187" cy="1679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One-hot encoding categorical variables (Connector Type, Operator, Usage).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6300787" y="3166467"/>
            <a:ext cx="18439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6300787" y="3442692"/>
            <a:ext cx="1500187" cy="143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Training Random Forest Regressor to predict target power output (kW).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8610600" y="3526333"/>
            <a:ext cx="3581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Deployment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8610600" y="3802558"/>
            <a:ext cx="28289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Model export (`EV_charging_power_model.pkl`) &amp; logging predictions.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/>
          <p:nvPr/>
        </p:nvSpPr>
        <p:spPr>
          <a:xfrm>
            <a:off x="609600" y="2647057"/>
            <a:ext cx="3479750" cy="2487662"/>
          </a:xfrm>
          <a:prstGeom prst="roundRect">
            <a:avLst>
              <a:gd fmla="val 612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356050" y="2685157"/>
            <a:ext cx="3479750" cy="2411462"/>
          </a:xfrm>
          <a:prstGeom prst="roundRect">
            <a:avLst>
              <a:gd fmla="val 63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8102500" y="2685157"/>
            <a:ext cx="3479750" cy="2411462"/>
          </a:xfrm>
          <a:prstGeom prst="roundRect">
            <a:avLst>
              <a:gd fmla="val 631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MODEL EVALUATION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Predictive Performance &amp; Evaluation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567537" y="2961382"/>
            <a:ext cx="3563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MEAN ABSOLUTE ERROR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567537" y="3199507"/>
            <a:ext cx="3563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MAE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567537" y="3904357"/>
            <a:ext cx="3563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Low Average Deviation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567537" y="4180582"/>
            <a:ext cx="356387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Measures absolute difference between actual kW and predicted kW across test samples.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4313987" y="2999482"/>
            <a:ext cx="3563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ROOT MEAN SQUARED ERROR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4313987" y="3237607"/>
            <a:ext cx="3563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RMSE</a:t>
            </a:r>
            <a:endParaRPr/>
          </a:p>
        </p:txBody>
      </p:sp>
      <p:sp>
        <p:nvSpPr>
          <p:cNvPr id="259" name="Google Shape;259;p20"/>
          <p:cNvSpPr txBox="1"/>
          <p:nvPr/>
        </p:nvSpPr>
        <p:spPr>
          <a:xfrm>
            <a:off x="4313987" y="3942457"/>
            <a:ext cx="3563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Outlier Sensitivity Control</a:t>
            </a:r>
            <a:endParaRPr/>
          </a:p>
        </p:txBody>
      </p:sp>
      <p:sp>
        <p:nvSpPr>
          <p:cNvPr id="260" name="Google Shape;260;p20"/>
          <p:cNvSpPr txBox="1"/>
          <p:nvPr/>
        </p:nvSpPr>
        <p:spPr>
          <a:xfrm>
            <a:off x="4313987" y="4142482"/>
            <a:ext cx="356387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Penalizes large variance errors, ensuring reliable capacity estimation for grid integration.</a:t>
            </a:r>
            <a:endParaRPr/>
          </a:p>
        </p:txBody>
      </p:sp>
      <p:sp>
        <p:nvSpPr>
          <p:cNvPr id="261" name="Google Shape;261;p20"/>
          <p:cNvSpPr txBox="1"/>
          <p:nvPr/>
        </p:nvSpPr>
        <p:spPr>
          <a:xfrm>
            <a:off x="8060438" y="2999482"/>
            <a:ext cx="3563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GOODNESS OF FIT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8060438" y="3237607"/>
            <a:ext cx="35638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R² Score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8060438" y="3942457"/>
            <a:ext cx="3563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High Explanatory Power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8060438" y="4142482"/>
            <a:ext cx="356387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Captures power variance explained by connector type, operator, and location attributes.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609600" y="1419225"/>
            <a:ext cx="10972800" cy="4943475"/>
          </a:xfrm>
          <a:prstGeom prst="roundRect">
            <a:avLst>
              <a:gd fmla="val 308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923925" y="3100387"/>
            <a:ext cx="10344150" cy="1143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923925" y="3681412"/>
            <a:ext cx="10344150" cy="1143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923925" y="4262437"/>
            <a:ext cx="10344150" cy="1143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923925" y="4843462"/>
            <a:ext cx="10344150" cy="11430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923925" y="3100387"/>
            <a:ext cx="8792467" cy="1143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923925" y="3681412"/>
            <a:ext cx="7033914" cy="1143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923925" y="4262437"/>
            <a:ext cx="4965055" cy="1143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923925" y="4843462"/>
            <a:ext cx="3310086" cy="1143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MODEL INSIGHTS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Feature Importance Analysis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923925" y="2824162"/>
            <a:ext cx="4583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Connector Type (CCS2, Type-2, CHAdeMO)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9429750" y="2824162"/>
            <a:ext cx="22979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85% — Primary Driver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923925" y="3405187"/>
            <a:ext cx="2524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Operator Network Brand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9629775" y="3405187"/>
            <a:ext cx="2047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68% — High Impact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923925" y="3986212"/>
            <a:ext cx="39409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Geographical Coordinates (Lat / Long)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9172575" y="3986212"/>
            <a:ext cx="2619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48% — Moderate Weight</a:t>
            </a:r>
            <a:endParaRPr/>
          </a:p>
        </p:txBody>
      </p:sp>
      <p:sp>
        <p:nvSpPr>
          <p:cNvPr id="286" name="Google Shape;286;p21"/>
          <p:cNvSpPr txBox="1"/>
          <p:nvPr/>
        </p:nvSpPr>
        <p:spPr>
          <a:xfrm>
            <a:off x="923925" y="4567237"/>
            <a:ext cx="43695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Usage Category (Public / Fleet / Highway)</a:t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9144000" y="4567237"/>
            <a:ext cx="26550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32% — Secondary Factor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/>
          <p:nvPr/>
        </p:nvSpPr>
        <p:spPr>
          <a:xfrm>
            <a:off x="6257925" y="2042517"/>
            <a:ext cx="5324475" cy="1117996"/>
          </a:xfrm>
          <a:prstGeom prst="roundRect">
            <a:avLst>
              <a:gd fmla="val 102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6257925" y="3312914"/>
            <a:ext cx="5324475" cy="1117996"/>
          </a:xfrm>
          <a:prstGeom prst="roundRect">
            <a:avLst>
              <a:gd fmla="val 102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6257925" y="4583310"/>
            <a:ext cx="5324475" cy="1117996"/>
          </a:xfrm>
          <a:prstGeom prst="roundRect">
            <a:avLst>
              <a:gd fmla="val 102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5" name="Google Shape;29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252662"/>
            <a:ext cx="534352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262187"/>
            <a:ext cx="5324475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INTERACTIVE PLATFORM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Streamlit Analytics Modules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6457950" y="2242542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Dynamic KPI Filtering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6457950" y="2480667"/>
            <a:ext cx="50196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Real-time filtering by State, Operator, and Connector Type with live summary counts.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6457950" y="3512939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Geospatial Mapping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6457950" y="3751064"/>
            <a:ext cx="50196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Interactive Plotly map rendering station nodes color-coded by power category.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6457950" y="4783335"/>
            <a:ext cx="57340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Live ML Inference Tab</a:t>
            </a:r>
            <a:endParaRPr/>
          </a:p>
        </p:txBody>
      </p:sp>
      <p:sp>
        <p:nvSpPr>
          <p:cNvPr id="304" name="Google Shape;304;p22"/>
          <p:cNvSpPr txBox="1"/>
          <p:nvPr/>
        </p:nvSpPr>
        <p:spPr>
          <a:xfrm>
            <a:off x="6457950" y="5021460"/>
            <a:ext cx="50196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On-demand charging power predictions using the loaded Random Forest model payload.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3"/>
          <p:cNvSpPr/>
          <p:nvPr/>
        </p:nvSpPr>
        <p:spPr>
          <a:xfrm>
            <a:off x="609600" y="2700337"/>
            <a:ext cx="5391150" cy="1095375"/>
          </a:xfrm>
          <a:prstGeom prst="roundRect">
            <a:avLst>
              <a:gd fmla="val 104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6191250" y="2700337"/>
            <a:ext cx="5391150" cy="1095375"/>
          </a:xfrm>
          <a:prstGeom prst="roundRect">
            <a:avLst>
              <a:gd fmla="val 104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609600" y="3986212"/>
            <a:ext cx="5391150" cy="1095375"/>
          </a:xfrm>
          <a:prstGeom prst="roundRect">
            <a:avLst>
              <a:gd fmla="val 104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6191250" y="3986212"/>
            <a:ext cx="5391150" cy="1095375"/>
          </a:xfrm>
          <a:prstGeom prst="roundRect">
            <a:avLst>
              <a:gd fmla="val 1043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3" name="Google Shape;3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0194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9375" y="30194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43053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43053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7262" y="31527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62725" y="31527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600" y="44386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62725" y="44386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3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CODEBASE &amp; ARTIFACTS</a:t>
            </a:r>
            <a:endParaRPr/>
          </a:p>
        </p:txBody>
      </p:sp>
      <p:sp>
        <p:nvSpPr>
          <p:cNvPr id="322" name="Google Shape;322;p23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Deliverables &amp; File Structure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1457325" y="2938462"/>
            <a:ext cx="56507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Arial"/>
                <a:ea typeface="Arial"/>
                <a:cs typeface="Arial"/>
                <a:sym typeface="Arial"/>
              </a:rPr>
              <a:t>app.py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1457325" y="3157537"/>
            <a:ext cx="4400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Main Streamlit multi-page application code containing dynamic widgets and UI layout.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7038975" y="2938462"/>
            <a:ext cx="5153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EV_charging_power_model.pkl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7038975" y="3157537"/>
            <a:ext cx="4400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Serialized Random Forest machine learning model payload for real-time inference.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1457325" y="4224337"/>
            <a:ext cx="565070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rPr>
              <a:t>EV_stations_cleaned.csv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1457325" y="4443412"/>
            <a:ext cx="4400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Fully cleansed, validated, and categorized national EV charging station dataset.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7038975" y="4224337"/>
            <a:ext cx="51530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EV_feature_importance.csv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7038975" y="4443412"/>
            <a:ext cx="44005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Exported feature weighting matrix and prediction error evaluation logs.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4"/>
          <p:cNvSpPr/>
          <p:nvPr/>
        </p:nvSpPr>
        <p:spPr>
          <a:xfrm>
            <a:off x="609600" y="2437804"/>
            <a:ext cx="5334000" cy="2906315"/>
          </a:xfrm>
          <a:prstGeom prst="roundRect">
            <a:avLst>
              <a:gd fmla="val 524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6248400" y="2437804"/>
            <a:ext cx="5334000" cy="2906315"/>
          </a:xfrm>
          <a:prstGeom prst="roundRect">
            <a:avLst>
              <a:gd fmla="val 524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7" name="Google Shape;3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75212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275212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175" y="2837854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8450" y="2837854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4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SYSTEM EVALUATION</a:t>
            </a:r>
            <a:endParaRPr/>
          </a:p>
        </p:txBody>
      </p:sp>
      <p:sp>
        <p:nvSpPr>
          <p:cNvPr id="342" name="Google Shape;342;p24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Platform Strengths &amp; Constraints</a:t>
            </a:r>
            <a:endParaRPr/>
          </a:p>
        </p:txBody>
      </p:sp>
      <p:sp>
        <p:nvSpPr>
          <p:cNvPr id="343" name="Google Shape;343;p24"/>
          <p:cNvSpPr txBox="1"/>
          <p:nvPr/>
        </p:nvSpPr>
        <p:spPr>
          <a:xfrm>
            <a:off x="1381125" y="2799754"/>
            <a:ext cx="2712839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System Strengths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923925" y="3285529"/>
            <a:ext cx="48006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User-Friendly Interface: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Intuitive dashboard with interactive filters for non-technical users.</a:t>
            </a:r>
            <a:endParaRPr/>
          </a:p>
        </p:txBody>
      </p:sp>
      <p:sp>
        <p:nvSpPr>
          <p:cNvPr id="345" name="Google Shape;345;p24"/>
          <p:cNvSpPr txBox="1"/>
          <p:nvPr/>
        </p:nvSpPr>
        <p:spPr>
          <a:xfrm>
            <a:off x="923925" y="3917751"/>
            <a:ext cx="48006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Embedded ML Pipeline: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Direct model inference without needing external API dependencies.</a:t>
            </a:r>
            <a:endParaRPr/>
          </a:p>
        </p:txBody>
      </p:sp>
      <p:sp>
        <p:nvSpPr>
          <p:cNvPr id="346" name="Google Shape;346;p24"/>
          <p:cNvSpPr txBox="1"/>
          <p:nvPr/>
        </p:nvSpPr>
        <p:spPr>
          <a:xfrm>
            <a:off x="923925" y="4549973"/>
            <a:ext cx="48006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Cloud Native: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Seamless host deployment via Streamlit Community Cloud &amp; GitHub.</a:t>
            </a:r>
            <a:endParaRPr/>
          </a:p>
        </p:txBody>
      </p:sp>
      <p:sp>
        <p:nvSpPr>
          <p:cNvPr id="347" name="Google Shape;347;p24"/>
          <p:cNvSpPr txBox="1"/>
          <p:nvPr/>
        </p:nvSpPr>
        <p:spPr>
          <a:xfrm>
            <a:off x="7019925" y="2799754"/>
            <a:ext cx="232529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Limitations</a:t>
            </a:r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6562725" y="3285529"/>
            <a:ext cx="48006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Static Data Snapshot: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Requires automated periodic refreshing to reflect new stations.</a:t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6562725" y="3917751"/>
            <a:ext cx="48006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Coverage Scope: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Limited to recorded public chargers; excludes private captive fleets.</a:t>
            </a:r>
            <a:endParaRPr/>
          </a:p>
        </p:txBody>
      </p:sp>
      <p:sp>
        <p:nvSpPr>
          <p:cNvPr id="350" name="Google Shape;350;p24"/>
          <p:cNvSpPr txBox="1"/>
          <p:nvPr/>
        </p:nvSpPr>
        <p:spPr>
          <a:xfrm>
            <a:off x="6562725" y="4549973"/>
            <a:ext cx="48006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Real-Time Sync: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Requires live API integration to track active charger occupancy.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"/>
          <p:cNvSpPr/>
          <p:nvPr/>
        </p:nvSpPr>
        <p:spPr>
          <a:xfrm>
            <a:off x="609600" y="2182415"/>
            <a:ext cx="5372100" cy="1594246"/>
          </a:xfrm>
          <a:prstGeom prst="roundRect">
            <a:avLst>
              <a:gd fmla="val 95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6210300" y="2182415"/>
            <a:ext cx="5372100" cy="1594246"/>
          </a:xfrm>
          <a:prstGeom prst="roundRect">
            <a:avLst>
              <a:gd fmla="val 95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5"/>
          <p:cNvSpPr/>
          <p:nvPr/>
        </p:nvSpPr>
        <p:spPr>
          <a:xfrm>
            <a:off x="609600" y="4005262"/>
            <a:ext cx="5372100" cy="1594246"/>
          </a:xfrm>
          <a:prstGeom prst="roundRect">
            <a:avLst>
              <a:gd fmla="val 95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5"/>
          <p:cNvSpPr/>
          <p:nvPr/>
        </p:nvSpPr>
        <p:spPr>
          <a:xfrm>
            <a:off x="6210300" y="4005262"/>
            <a:ext cx="5372100" cy="1594246"/>
          </a:xfrm>
          <a:prstGeom prst="roundRect">
            <a:avLst>
              <a:gd fmla="val 955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5"/>
          <p:cNvSpPr txBox="1"/>
          <p:nvPr/>
        </p:nvSpPr>
        <p:spPr>
          <a:xfrm>
            <a:off x="609600" y="4953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FUTURE HORIZONS</a:t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Development Roadmap</a:t>
            </a:r>
            <a:endParaRPr/>
          </a:p>
        </p:txBody>
      </p:sp>
      <p:sp>
        <p:nvSpPr>
          <p:cNvPr id="361" name="Google Shape;361;p25"/>
          <p:cNvSpPr txBox="1"/>
          <p:nvPr/>
        </p:nvSpPr>
        <p:spPr>
          <a:xfrm>
            <a:off x="876300" y="2449115"/>
            <a:ext cx="4933950" cy="106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PHASE 01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6477000" y="2449115"/>
            <a:ext cx="4933950" cy="106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02</a:t>
            </a:r>
            <a:endParaRPr/>
          </a:p>
        </p:txBody>
      </p:sp>
      <p:sp>
        <p:nvSpPr>
          <p:cNvPr id="363" name="Google Shape;363;p25"/>
          <p:cNvSpPr txBox="1"/>
          <p:nvPr/>
        </p:nvSpPr>
        <p:spPr>
          <a:xfrm>
            <a:off x="876300" y="4271962"/>
            <a:ext cx="4933950" cy="106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PHASE 03</a:t>
            </a:r>
            <a:endParaRPr/>
          </a:p>
        </p:txBody>
      </p:sp>
      <p:sp>
        <p:nvSpPr>
          <p:cNvPr id="364" name="Google Shape;364;p25"/>
          <p:cNvSpPr txBox="1"/>
          <p:nvPr/>
        </p:nvSpPr>
        <p:spPr>
          <a:xfrm>
            <a:off x="6477000" y="4271962"/>
            <a:ext cx="4933950" cy="1060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PHASE 04</a:t>
            </a:r>
            <a:endParaRPr/>
          </a:p>
        </p:txBody>
      </p:sp>
      <p:sp>
        <p:nvSpPr>
          <p:cNvPr id="365" name="Google Shape;365;p25"/>
          <p:cNvSpPr txBox="1"/>
          <p:nvPr/>
        </p:nvSpPr>
        <p:spPr>
          <a:xfrm>
            <a:off x="885825" y="2725340"/>
            <a:ext cx="63257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Real-Time API Integration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885825" y="3020615"/>
            <a:ext cx="49149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Sync live charger occupancy status, tariff pricing, and dynamic grid demand feeds.</a:t>
            </a:r>
            <a:endParaRPr/>
          </a:p>
        </p:txBody>
      </p:sp>
      <p:sp>
        <p:nvSpPr>
          <p:cNvPr id="367" name="Google Shape;367;p25"/>
          <p:cNvSpPr txBox="1"/>
          <p:nvPr/>
        </p:nvSpPr>
        <p:spPr>
          <a:xfrm>
            <a:off x="6486525" y="2725340"/>
            <a:ext cx="5705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Intelligent EV Route Planner</a:t>
            </a:r>
            <a:endParaRPr/>
          </a:p>
        </p:txBody>
      </p:sp>
      <p:sp>
        <p:nvSpPr>
          <p:cNvPr id="368" name="Google Shape;368;p25"/>
          <p:cNvSpPr txBox="1"/>
          <p:nvPr/>
        </p:nvSpPr>
        <p:spPr>
          <a:xfrm>
            <a:off x="6486525" y="3020615"/>
            <a:ext cx="49149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Optimal intercity route navigation with automated charging stop recommendations.</a:t>
            </a:r>
            <a:endParaRPr/>
          </a:p>
        </p:txBody>
      </p:sp>
      <p:sp>
        <p:nvSpPr>
          <p:cNvPr id="369" name="Google Shape;369;p25"/>
          <p:cNvSpPr txBox="1"/>
          <p:nvPr/>
        </p:nvSpPr>
        <p:spPr>
          <a:xfrm>
            <a:off x="885825" y="4548187"/>
            <a:ext cx="632579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Demand Forecasting</a:t>
            </a:r>
            <a:endParaRPr/>
          </a:p>
        </p:txBody>
      </p:sp>
      <p:sp>
        <p:nvSpPr>
          <p:cNvPr id="370" name="Google Shape;370;p25"/>
          <p:cNvSpPr txBox="1"/>
          <p:nvPr/>
        </p:nvSpPr>
        <p:spPr>
          <a:xfrm>
            <a:off x="885825" y="4843462"/>
            <a:ext cx="49149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Time-series analysis predicting future regional charging load and grid capacity expansion needs.</a:t>
            </a:r>
            <a:endParaRPr/>
          </a:p>
        </p:txBody>
      </p:sp>
      <p:sp>
        <p:nvSpPr>
          <p:cNvPr id="371" name="Google Shape;371;p25"/>
          <p:cNvSpPr txBox="1"/>
          <p:nvPr/>
        </p:nvSpPr>
        <p:spPr>
          <a:xfrm>
            <a:off x="6486525" y="4548187"/>
            <a:ext cx="57054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Mobile PWA Version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6486525" y="4843462"/>
            <a:ext cx="491490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Lightweight progressive web app tailored specifically for EV drivers on mobile devices.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6"/>
          <p:cNvSpPr/>
          <p:nvPr/>
        </p:nvSpPr>
        <p:spPr>
          <a:xfrm>
            <a:off x="3309937" y="4763392"/>
            <a:ext cx="1771650" cy="33337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5233987" y="4763392"/>
            <a:ext cx="1676400" cy="33337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7062787" y="4763392"/>
            <a:ext cx="1819275" cy="333375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80" name="Google Shape;38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761232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193268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6"/>
          <p:cNvSpPr txBox="1"/>
          <p:nvPr/>
        </p:nvSpPr>
        <p:spPr>
          <a:xfrm>
            <a:off x="595312" y="2637532"/>
            <a:ext cx="11001375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Empowering India's Clean Mobility Transition</a:t>
            </a:r>
            <a:endParaRPr/>
          </a:p>
        </p:txBody>
      </p:sp>
      <p:sp>
        <p:nvSpPr>
          <p:cNvPr id="383" name="Google Shape;383;p26"/>
          <p:cNvSpPr txBox="1"/>
          <p:nvPr/>
        </p:nvSpPr>
        <p:spPr>
          <a:xfrm>
            <a:off x="2047875" y="3833812"/>
            <a:ext cx="8096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Combining data analytics, Random Forest machine learning, and interactive web visualization into a scalable infrastructure intelligence platform.</a:t>
            </a:r>
            <a:endParaRPr/>
          </a:p>
        </p:txBody>
      </p:sp>
      <p:sp>
        <p:nvSpPr>
          <p:cNvPr id="384" name="Google Shape;384;p26"/>
          <p:cNvSpPr txBox="1"/>
          <p:nvPr/>
        </p:nvSpPr>
        <p:spPr>
          <a:xfrm>
            <a:off x="3278981" y="4839592"/>
            <a:ext cx="1833562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Open Source Pipeline</a:t>
            </a:r>
            <a:endParaRPr/>
          </a:p>
        </p:txBody>
      </p:sp>
      <p:sp>
        <p:nvSpPr>
          <p:cNvPr id="385" name="Google Shape;385;p26"/>
          <p:cNvSpPr txBox="1"/>
          <p:nvPr/>
        </p:nvSpPr>
        <p:spPr>
          <a:xfrm>
            <a:off x="5214937" y="4839592"/>
            <a:ext cx="1714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Random Forest Core</a:t>
            </a: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7025878" y="4839592"/>
            <a:ext cx="1893093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Streamlit Cloud Ready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